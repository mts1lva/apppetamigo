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cadc1291284216" /><Relationship Type="http://schemas.openxmlformats.org/officeDocument/2006/relationships/extended-properties" Target="/docProps/app.xml" Id="R97e15d2b8cbd4d43" /><Relationship Type="http://schemas.openxmlformats.org/officeDocument/2006/relationships/officeDocument" Target="/ppt/presentation.xml" Id="Rc63be5b9625942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c73d8da9fb48f8"/>
  </p:sldMasterIdLst>
  <p:notesMasterIdLst>
    <p:notesMasterId xmlns:r="http://schemas.openxmlformats.org/officeDocument/2006/relationships" r:id="Rf187a0d6f6d94cac"/>
  </p:notesMasterIdLst>
  <p:sldIdLst>
    <p:sldId xmlns:r="http://schemas.openxmlformats.org/officeDocument/2006/relationships" id="256" r:id="R736cbe3205324fa0"/>
    <p:sldId xmlns:r="http://schemas.openxmlformats.org/officeDocument/2006/relationships" id="257" r:id="Re8b393078fb24f26"/>
    <p:sldId xmlns:r="http://schemas.openxmlformats.org/officeDocument/2006/relationships" id="258" r:id="Rcc1b2c5a2a734b96"/>
    <p:sldId xmlns:r="http://schemas.openxmlformats.org/officeDocument/2006/relationships" id="259" r:id="R130b72caf1c64074"/>
    <p:sldId xmlns:r="http://schemas.openxmlformats.org/officeDocument/2006/relationships" id="260" r:id="R215364b4105342dd"/>
    <p:sldId xmlns:r="http://schemas.openxmlformats.org/officeDocument/2006/relationships" id="261" r:id="Raf26215614aa427a"/>
    <p:sldId xmlns:r="http://schemas.openxmlformats.org/officeDocument/2006/relationships" id="262" r:id="R3a7065cf16864658"/>
    <p:sldId xmlns:r="http://schemas.openxmlformats.org/officeDocument/2006/relationships" id="263" r:id="R71749a270b034223"/>
    <p:sldId xmlns:r="http://schemas.openxmlformats.org/officeDocument/2006/relationships" id="264" r:id="Rf77ca995d65a4b13"/>
    <p:sldId xmlns:r="http://schemas.openxmlformats.org/officeDocument/2006/relationships" id="265" r:id="R711e58fd4fec4045"/>
    <p:sldId xmlns:r="http://schemas.openxmlformats.org/officeDocument/2006/relationships" id="266" r:id="R42316bd422d842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af9c4c80474ad4" /><Relationship Type="http://schemas.openxmlformats.org/officeDocument/2006/relationships/slideMaster" Target="/ppt/slideMasters/slideMaster1.xml" Id="R8bc73d8da9fb48f8" /><Relationship Type="http://schemas.openxmlformats.org/officeDocument/2006/relationships/notesMaster" Target="/ppt/notesMasters/notesMaster1.xml" Id="Rf187a0d6f6d94cac" /><Relationship Type="http://schemas.openxmlformats.org/officeDocument/2006/relationships/presProps" Target="/ppt/presProps.xml" Id="Reb992a8e724041af" /><Relationship Type="http://schemas.openxmlformats.org/officeDocument/2006/relationships/tableStyles" Target="/ppt/tableStyles.xml" Id="R760b7ea3630f4846" /><Relationship Type="http://schemas.openxmlformats.org/officeDocument/2006/relationships/slide" Target="/ppt/slides/slide1.xml" Id="R736cbe3205324fa0" /><Relationship Type="http://schemas.openxmlformats.org/officeDocument/2006/relationships/slide" Target="/ppt/slides/slide2.xml" Id="Re8b393078fb24f26" /><Relationship Type="http://schemas.openxmlformats.org/officeDocument/2006/relationships/slide" Target="/ppt/slides/slide3.xml" Id="Rcc1b2c5a2a734b96" /><Relationship Type="http://schemas.openxmlformats.org/officeDocument/2006/relationships/slide" Target="/ppt/slides/slide4.xml" Id="R130b72caf1c64074" /><Relationship Type="http://schemas.openxmlformats.org/officeDocument/2006/relationships/slide" Target="/ppt/slides/slide5.xml" Id="R215364b4105342dd" /><Relationship Type="http://schemas.openxmlformats.org/officeDocument/2006/relationships/slide" Target="/ppt/slides/slide6.xml" Id="Raf26215614aa427a" /><Relationship Type="http://schemas.openxmlformats.org/officeDocument/2006/relationships/slide" Target="/ppt/slides/slide7.xml" Id="R3a7065cf16864658" /><Relationship Type="http://schemas.openxmlformats.org/officeDocument/2006/relationships/slide" Target="/ppt/slides/slide8.xml" Id="R71749a270b034223" /><Relationship Type="http://schemas.openxmlformats.org/officeDocument/2006/relationships/slide" Target="/ppt/slides/slide9.xml" Id="Rf77ca995d65a4b13" /><Relationship Type="http://schemas.openxmlformats.org/officeDocument/2006/relationships/slide" Target="/ppt/slides/slide10.xml" Id="R711e58fd4fec4045" /><Relationship Type="http://schemas.openxmlformats.org/officeDocument/2006/relationships/slide" Target="/ppt/slides/slide11.xml" Id="R42316bd422d842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8d372d13d145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e194c16d72478a" /><Relationship Type="http://schemas.openxmlformats.org/officeDocument/2006/relationships/notesMaster" Target="/ppt/notesMasters/notesMaster1.xml" Id="Rb3128dbf511f44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dbf16444244a95" /><Relationship Type="http://schemas.openxmlformats.org/officeDocument/2006/relationships/notesMaster" Target="/ppt/notesMasters/notesMaster1.xml" Id="R200fe24b1b4c43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c85950bd1d44c3" /><Relationship Type="http://schemas.openxmlformats.org/officeDocument/2006/relationships/notesMaster" Target="/ppt/notesMasters/notesMaster1.xml" Id="Ra6f9399d067049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ab8f452d764c34" /><Relationship Type="http://schemas.openxmlformats.org/officeDocument/2006/relationships/notesMaster" Target="/ppt/notesMasters/notesMaster1.xml" Id="R152e9af259f245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0a96f73e8b4c9d" /><Relationship Type="http://schemas.openxmlformats.org/officeDocument/2006/relationships/notesMaster" Target="/ppt/notesMasters/notesMaster1.xml" Id="R89bc56c00a8c45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38ed9d3ec64f14" /><Relationship Type="http://schemas.openxmlformats.org/officeDocument/2006/relationships/notesMaster" Target="/ppt/notesMasters/notesMaster1.xml" Id="Rb08673484ecc41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076782f41e4640" /><Relationship Type="http://schemas.openxmlformats.org/officeDocument/2006/relationships/notesMaster" Target="/ppt/notesMasters/notesMaster1.xml" Id="R43a8aeaf4dd841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528a941dbf406d" /><Relationship Type="http://schemas.openxmlformats.org/officeDocument/2006/relationships/notesMaster" Target="/ppt/notesMasters/notesMaster1.xml" Id="Rc5330527e1bb46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98d5d4d420498e" /><Relationship Type="http://schemas.openxmlformats.org/officeDocument/2006/relationships/notesMaster" Target="/ppt/notesMasters/notesMaster1.xml" Id="R8b96a28f55714e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1fb58d38074106" /><Relationship Type="http://schemas.openxmlformats.org/officeDocument/2006/relationships/notesMaster" Target="/ppt/notesMasters/notesMaster1.xml" Id="Ra68b23dfc02341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a0adef02374e32" /><Relationship Type="http://schemas.openxmlformats.org/officeDocument/2006/relationships/notesMaster" Target="/ppt/notesMasters/notesMaster1.xml" Id="R7a08964ef0a74b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sugerida: Raissa Andrade Santos (1 min).</a:t>
            </a:r>
          </a:p>
          <a:p xmlns:a="http://schemas.openxmlformats.org/drawingml/2006/main">
            <a:r>
              <a:t>O estudo de caso identifica alimentação por estimativa e histórico disperso. Apresentar o público principal, tutores de cães e gatos. O objetivo é organizar os registros e apoiar o acompanhamento com o veterinário. Evitar tratar o aplicativo como diagnóstico ou prescrição. A Unidade I entrega análise, requisitos e protótipos.</a:t>
            </a:r>
          </a:p>
          <a:p xmlns:a="http://schemas.openxmlformats.org/drawingml/2006/main">
            <a:r>
              <a:t>Fontes: Atividade 05, seção 2; Atividade 04, seção 5; estudo-de-caso.md, personas.md, requisitos.md e justificativas de prototipação da equipe.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sugerida: João Lopes (1 min 30 s).</a:t>
            </a:r>
          </a:p>
          <a:p xmlns:a="http://schemas.openxmlformats.org/drawingml/2006/main">
            <a:r>
              <a:t>Apresentar as duas personas de docs/personas.md. Marina Oliveira, 31 anos, tutora de Luna, gata de 6 anos. É a persona prioritária por precisar de clareza e acolhimento para criar o hábito. Bruno Santos, 27 anos, tutor de Theo, cão de 5 anos, registra diariamente e precisa de poucos toques e uso offline. Destacar que dias sem registro significam ausência de dados, sem culpa.</a:t>
            </a:r>
          </a:p>
          <a:p xmlns:a="http://schemas.openxmlformats.org/drawingml/2006/main">
            <a:r>
              <a:t>Fontes: Atividade 05, seção 2; Atividade 04, seção 5; estudo-de-caso.md, personas.md, requisitos.md e justificativas de prototipação da equipe.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sugerida: Raissa Andrade Santos (1 min).</a:t>
            </a:r>
          </a:p>
          <a:p xmlns:a="http://schemas.openxmlformats.org/drawingml/2006/main">
            <a:r>
              <a:t>Vincular cada função ao problema dos usuários. Diário e separação de petiscos ajudam Marina a enxergar os registros. Reutilizar porções reduz a digitação para Bruno. Pesagens e gráfico organizam o acompanhamento ao longo das semanas. O resumo compartilhável apoia a consulta. A referência NRC continua bloqueada até validar fonte, fórmula e limites.</a:t>
            </a:r>
          </a:p>
          <a:p xmlns:a="http://schemas.openxmlformats.org/drawingml/2006/main">
            <a:r>
              <a:t>Fontes: Atividade 05, seção 2; Atividade 04, seção 5; estudo-de-caso.md, personas.md, requisitos.md e justificativas de prototipação da equipe.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sugerida: João Lopes (1 min).</a:t>
            </a:r>
          </a:p>
          <a:p xmlns:a="http://schemas.openxmlformats.org/drawingml/2006/main">
            <a:r>
              <a:t>Relacionar os grupos de requisitos às telas. RF01/RF02: perfil e resumo. RF04–RF08: alimentos, refeições, petiscos e totais. RF09–RF12: peso, ECC, gráfico e atividades. RF13–RF17: resumo compartilhável, dados locais, cópia remota e exclusão. RF18–RF20: dicas, retorno acolhedor e consulta por data. A matriz completa está no Figma e nas justificativas. Não afirmar implementação concluída: NRC, persistência, sincronização, desempenho e acessibilidade dependem de desenvolvimento e validação.</a:t>
            </a:r>
          </a:p>
          <a:p xmlns:a="http://schemas.openxmlformats.org/drawingml/2006/main">
            <a:r>
              <a:t>Fontes: Atividade 05, seção 2; Atividade 04, seção 5; estudo-de-caso.md, personas.md, requisitos.md e justificativas de prototipação da equipe.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sugerida: Paulo Emanuel (1 min).</a:t>
            </a:r>
          </a:p>
          <a:p xmlns:a="http://schemas.openxmlformats.org/drawingml/2006/main">
            <a:r>
              <a:t>Apresentar o problema: organizar alimentação, atividades e acompanhamento do peso do pet. Relacionar a rotina de Marina e Bruno às decisões do projeto. A baixa fidelidade explora a estrutura sem definir a identidade final.</a:t>
            </a:r>
          </a:p>
          <a:p xmlns:a="http://schemas.openxmlformats.org/drawingml/2006/main">
            <a:r>
              <a:t>Fontes: Atividade 05, seção 2; Atividade 04, seção 5; estudo-de-caso.md, personas.md, requisitos.md e justificativas de prototipação da equipe.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sugerida: Paulo Emanuel (1 min).</a:t>
            </a:r>
          </a:p>
          <a:p xmlns:a="http://schemas.openxmlformats.org/drawingml/2006/main">
            <a:r>
              <a:t>Comparar os diários. A lista conjunta ganhou seções de refeições e petiscos. No Início, o atalho habitual se aproxima do resumo. A referência indisponível ganha uma explicação. São decisões de design, sem atribuição a teste com usuários.</a:t>
            </a:r>
          </a:p>
          <a:p xmlns:a="http://schemas.openxmlformats.org/drawingml/2006/main">
            <a:r>
              <a:t>Fontes: Atividade 05, seção 2; Atividade 04, seção 5; estudo-de-caso.md, personas.md, requisitos.md e justificativas de prototipação da equipe.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sugerida: Matheus Leão (1 min).</a:t>
            </a:r>
          </a:p>
          <a:p xmlns:a="http://schemas.openxmlformats.org/drawingml/2006/main">
            <a:r>
              <a:t>Percorrer os quatro destinos. Início reúne perfil e resumo. Diário organiza refeições e petiscos. Atividades registra movimento. Evolução reúne pesagens e referências. A interface é uma proposta para implementação na Unidade II.</a:t>
            </a:r>
          </a:p>
          <a:p xmlns:a="http://schemas.openxmlformats.org/drawingml/2006/main">
            <a:r>
              <a:t>Fontes: Atividade 05, seção 2; Atividade 04, seção 5; estudo-de-caso.md, personas.md, requisitos.md e justificativas de prototipação da equipe.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sugerida: Matheus Leão (2 min, incluindo demonstração).</a:t>
            </a:r>
          </a:p>
          <a:p xmlns:a="http://schemas.openxmlformats.org/drawingml/2006/main">
            <a:r>
              <a:t>Demonstrar no Figma: Início, abrir Registrar refeição, Confirmar refeição e retorno salvo. Com alimento e porção previamente configurados, são dois toques. Cadastro e ajustes são fluxos separados. Totais ilustrativos mudam de 120 para 228 kcal. O protótipo simula a persistência, sem banco de dados funcional.</a:t>
            </a:r>
          </a:p>
          <a:p xmlns:a="http://schemas.openxmlformats.org/drawingml/2006/main">
            <a:r>
              <a:t>Fontes: Atividade 05, seção 2; Atividade 04, seção 5; estudo-de-caso.md, personas.md, requisitos.md e justificativas de prototipação da equipe.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sugerida: Paulo Emanuel (1 min).</a:t>
            </a:r>
          </a:p>
          <a:p xmlns:a="http://schemas.openxmlformats.org/drawingml/2006/main">
            <a:r>
              <a:t>Explicar verde #236447, fundo #F6F8F4 e Inter. Os alvos de toque propostos atendem ao mínimo de 48 dp. Gráficos também apresentam dados textuais. TalkBack e fonte a 200% precisam de teste no Android. A referência alimentar permanece indisponível até validar o método. Porções demonstrativas não são prescrições.</a:t>
            </a:r>
          </a:p>
          <a:p xmlns:a="http://schemas.openxmlformats.org/drawingml/2006/main">
            <a:r>
              <a:t>Fontes: Atividade 05, seção 2; Atividade 04, seção 5; estudo-de-caso.md, personas.md, requisitos.md e justificativas de prototipação da equipe.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sugerida: Matheus Silva (1 min 30 s).</a:t>
            </a:r>
          </a:p>
          <a:p xmlns:a="http://schemas.openxmlformats.org/drawingml/2006/main">
            <a:r>
              <a:t>Explicar a arquitetura especificada nas justificativas, ainda não implementada. A interface chama regras de validação e o repositório. O banco local privado será a fonte de verdade, com gravações atômicas. Um módulo separado de cálculo permanece bloqueado sem validação NRC. Compartilhamento usa o seletor do Android. Cópia remota é opcional, com autenticação e fila por Wi-Fi, IDs estáveis e tratamento de conflitos. O serviço remoto ainda precisa ser escolhido.</a:t>
            </a:r>
          </a:p>
          <a:p xmlns:a="http://schemas.openxmlformats.org/drawingml/2006/main">
            <a:r>
              <a:t>Fontes: Atividade 05, seção 2; Atividade 04, seção 5; estudo-de-caso.md, personas.md, requisitos.md e justificativas de prototipação da equipe.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sugerida: Matheus Silva (1 min).</a:t>
            </a:r>
          </a:p>
          <a:p xmlns:a="http://schemas.openxmlformats.org/drawingml/2006/main">
            <a:r>
              <a:t>Encerrar respondendo à pergunta central. O grupo produziu a especificação e o protótipo do PetAmigo para tutores de cães e gatos, priorizando Marina. O objetivo é organizar o cuidado diário sem culpa. Confirmar a organização do repositório antes de entregar: README, CHANGELOG, estudo de caso, pesquisa, personas, requisitos, apresentações das Atividades 02 e 03, justificativas, PDFs de baixa e alta fidelidade e docs/apresentacaoFinalUnidadeI.pdf. A entrega não comprova revisão ou apresentação dos integrantes. Enviar o link do GitHub no Teams depois da conferência. Na Unidade II, implementar, testar modo avião, persistência, desempenho, acessibilidade e validar método NRC.</a:t>
            </a:r>
          </a:p>
          <a:p xmlns:a="http://schemas.openxmlformats.org/drawingml/2006/main">
            <a:r>
              <a:t>Fontes: Atividade 05, seção 2; Atividade 04, seção 5; estudo-de-caso.md, personas.md, requisitos.md e justificativas de prototipação da equipe.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481764dc149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353172e0d4a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567ac73164b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ab93fe57e46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fb7868be644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805c58b2940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EEBF65-E09F-473D-8569-8A1ECACBD2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6185A7-BDB5-4B35-A227-C3869A2663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82138E-8320-481F-927F-F4E01CEE27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7D1AF4-781E-4779-8B74-45F58E00E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CD51CE-A859-4B07-A00A-B734FD40A2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956753-845B-4285-B780-784259B65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F3AC0F-7A8D-41EF-B24C-AE9CC03959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4559E6-B5B0-4641-BDE0-9AA1B5F55D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E5FC56-8AB3-4F33-B668-20C947BF35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6388E8-CC42-4D92-BA74-2A5F2D66AD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a8d7dd03484d6f" /><Relationship Type="http://schemas.openxmlformats.org/officeDocument/2006/relationships/slideLayout" Target="/ppt/slideLayouts/slideLayout1.xml" Id="R44ec511e4d524746" /><Relationship Type="http://schemas.openxmlformats.org/officeDocument/2006/relationships/slideLayout" Target="/ppt/slideLayouts/slideLayout2.xml" Id="R0021af058a46473e" /><Relationship Type="http://schemas.openxmlformats.org/officeDocument/2006/relationships/slideLayout" Target="/ppt/slideLayouts/slideLayout3.xml" Id="R5d42d803e2a54148" /><Relationship Type="http://schemas.openxmlformats.org/officeDocument/2006/relationships/slideLayout" Target="/ppt/slideLayouts/slideLayout4.xml" Id="R64e7d6cfcf1a4e51" /><Relationship Type="http://schemas.openxmlformats.org/officeDocument/2006/relationships/slideLayout" Target="/ppt/slideLayouts/slideLayout5.xml" Id="R358ef216760a45bd" /><Relationship Type="http://schemas.openxmlformats.org/officeDocument/2006/relationships/slideLayout" Target="/ppt/slideLayouts/slideLayout6.xml" Id="R8d70befba8ec4d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ec511e4d524746"/>
    <p:sldLayoutId xmlns:r="http://schemas.openxmlformats.org/officeDocument/2006/relationships" id="2147483650" r:id="R0021af058a46473e"/>
    <p:sldLayoutId xmlns:r="http://schemas.openxmlformats.org/officeDocument/2006/relationships" id="2147483651" r:id="R5d42d803e2a54148"/>
    <p:sldLayoutId xmlns:r="http://schemas.openxmlformats.org/officeDocument/2006/relationships" id="2147483652" r:id="R64e7d6cfcf1a4e51"/>
    <p:sldLayoutId xmlns:r="http://schemas.openxmlformats.org/officeDocument/2006/relationships" id="2147483653" r:id="R358ef216760a45bd"/>
    <p:sldLayoutId xmlns:r="http://schemas.openxmlformats.org/officeDocument/2006/relationships" id="2147483654" r:id="R8d70befba8ec4d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47bd244c54657" /><Relationship Type="http://schemas.openxmlformats.org/officeDocument/2006/relationships/notesSlide" Target="/ppt/notesSlides/notesSlide1.xml" Id="R8127eff6317b43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8937874a84c93" /><Relationship Type="http://schemas.openxmlformats.org/officeDocument/2006/relationships/notesSlide" Target="/ppt/notesSlides/notesSlide2.xml" Id="Rf4ad114e256546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08c247f554600" /><Relationship Type="http://schemas.openxmlformats.org/officeDocument/2006/relationships/notesSlide" Target="/ppt/notesSlides/notesSlide3.xml" Id="R7d1824febe1e44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1a9e706f741ac" /><Relationship Type="http://schemas.openxmlformats.org/officeDocument/2006/relationships/image" Target="/ppt/media/image.png" Id="R084ab7029e1e4cae" /><Relationship Type="http://schemas.openxmlformats.org/officeDocument/2006/relationships/notesSlide" Target="/ppt/notesSlides/notesSlide4.xml" Id="Re483d990807841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9671d1a4a48f5" /><Relationship Type="http://schemas.openxmlformats.org/officeDocument/2006/relationships/image" Target="/ppt/media/image2.png" Id="Rbcca177cb4e44826" /><Relationship Type="http://schemas.openxmlformats.org/officeDocument/2006/relationships/notesSlide" Target="/ppt/notesSlides/notesSlide5.xml" Id="Ree8942d7efb044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1b0bed2b0843f1" /><Relationship Type="http://schemas.openxmlformats.org/officeDocument/2006/relationships/image" Target="/ppt/media/image3.png" Id="R5f2b9d7c515540e5" /><Relationship Type="http://schemas.openxmlformats.org/officeDocument/2006/relationships/image" Target="/ppt/media/image4.png" Id="R19746f32a43f4782" /><Relationship Type="http://schemas.openxmlformats.org/officeDocument/2006/relationships/notesSlide" Target="/ppt/notesSlides/notesSlide6.xml" Id="R75c3e6865a864b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29d245f344ad9" /><Relationship Type="http://schemas.openxmlformats.org/officeDocument/2006/relationships/image" Target="/ppt/media/image5.png" Id="R699a51d87ebf470e" /><Relationship Type="http://schemas.openxmlformats.org/officeDocument/2006/relationships/image" Target="/ppt/media/image6.png" Id="R1aacbf83b9a14f63" /><Relationship Type="http://schemas.openxmlformats.org/officeDocument/2006/relationships/image" Target="/ppt/media/image7.png" Id="R2f93537397414202" /><Relationship Type="http://schemas.openxmlformats.org/officeDocument/2006/relationships/image" Target="/ppt/media/image8.png" Id="R919dc5bff68445bc" /><Relationship Type="http://schemas.openxmlformats.org/officeDocument/2006/relationships/notesSlide" Target="/ppt/notesSlides/notesSlide7.xml" Id="R5cf3d027f97a48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ac10838364635" /><Relationship Type="http://schemas.openxmlformats.org/officeDocument/2006/relationships/image" Target="/ppt/media/image9.png" Id="R74a521ed42f84752" /><Relationship Type="http://schemas.openxmlformats.org/officeDocument/2006/relationships/image" Target="/ppt/media/image10.png" Id="Rb89f4ac227b24a0b" /><Relationship Type="http://schemas.openxmlformats.org/officeDocument/2006/relationships/notesSlide" Target="/ppt/notesSlides/notesSlide8.xml" Id="R185ae299290845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5283f03724415" /><Relationship Type="http://schemas.openxmlformats.org/officeDocument/2006/relationships/image" Target="/ppt/media/image11.png" Id="R37918f43f9e74ab7" /><Relationship Type="http://schemas.openxmlformats.org/officeDocument/2006/relationships/notesSlide" Target="/ppt/notesSlides/notesSlide9.xml" Id="Rdf54c1bb676640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0fed7e285426a" /><Relationship Type="http://schemas.openxmlformats.org/officeDocument/2006/relationships/notesSlide" Target="/ppt/notesSlides/notesSlide10.xml" Id="R0e9ca1fe6a7d4d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47ea63add416a" /><Relationship Type="http://schemas.openxmlformats.org/officeDocument/2006/relationships/notesSlide" Target="/ppt/notesSlides/notesSlide11.xml" Id="R4b9bbd53b97949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AD06F-7D50-4090-9B7C-4CAB0A78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PetAmigo: problema e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0B1CF-D91B-46B7-BA22-C73AFEA3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Alimentação por estimativa e registros dispersos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682C8-6369-45F4-A1D1-60893341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Tutores têm dificuldade para acompanhar refeições, petiscos, atividades e mudanças no peso.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75D5B-D96B-44F2-81BF-697F7F22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A proposta reúne esses dados em um diário simples, com histórico para a consulta veterinária.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E7DAC-1DCC-4A5E-B1AF-4DF9F918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Unidade I: estudo do problema, requisitos e protótipos. O aplicativo ainda será desenvolvido.</a:t>
            </a:r>
          </a:p>
        </p:txBody>
      </p:sp>
    </p:spTree>
    <p:extLst>
      <p:ext uri="{BB962C8B-B14F-4D97-AF65-F5344CB8AC3E}">
        <p14:creationId xmlns:p14="http://schemas.microsoft.com/office/powerpoint/2010/main" val="111283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59AD2-0279-4A8F-A5F2-D109F363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Personas e prioridade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EEFBD-DFCE-464C-A56C-12C877C8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Marina Oliveira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A92D5-F382-4602-9DB2-DC4D76E8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Persona prioritária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E3420-B102-4B0A-ADA2-346ECB9B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31 anos. Tutora de Luna, gata de 6 anos. Está criando uma rotina de cuidado.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AD5F4-7188-44EA-9570-A859DABC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50482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Precisa de orientação clara, petiscos separados e retorno sem culpa.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9058B-83F6-4774-85D4-621CB58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525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Bruno Santos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ECC5C-11C9-49AC-94BB-C2CEE568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Tutor dedicado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80796-E956-4366-80FE-1DEDEA84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27 anos. Tutor de Theo, cão de 5 anos. Acompanha alimentação e passeios.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63820-556B-443B-BF36-4A569D7F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50482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Precisa registrar com poucos toques e consultar o histórico mesmo sem rede.</a:t>
            </a:r>
          </a:p>
        </p:txBody>
      </p:sp>
    </p:spTree>
    <p:extLst>
      <p:ext uri="{BB962C8B-B14F-4D97-AF65-F5344CB8AC3E}">
        <p14:creationId xmlns:p14="http://schemas.microsoft.com/office/powerpoint/2010/main" val="2057383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96838-5256-452C-BB8A-A8039E2C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Funcionalidades e necessidades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00536-6481-4847-BBE1-6886F3FB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Diário alimentar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FB35A-2BBE-4349-BC9E-2CD1CD90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66850"/>
            <a:ext cx="700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Refeições e petiscos separados tornam o consumo registrado mais claro.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19AD1-EF55-4834-B5CE-8D82D5B6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Registro habitual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085CE-8251-4950-8262-6C7A091E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700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Alimento e porção reutilizáveis reduzem a digitação na rotina.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95E15-94E3-4970-AAD0-C1D157DC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Peso e atividades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6F17A-F0F9-48F6-9443-1246933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7650"/>
            <a:ext cx="700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Histórico e gráfico ajudam a acompanhar mudanças ao longo do tempo.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96500-E6B1-4933-9696-763D3E94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Resumo do período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C7AE1-16C8-491D-A189-AE7EF57D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53050"/>
            <a:ext cx="700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Dados organizados apoiam a conversa com o veterinário.</a:t>
            </a:r>
          </a:p>
        </p:txBody>
      </p:sp>
    </p:spTree>
    <p:extLst>
      <p:ext uri="{BB962C8B-B14F-4D97-AF65-F5344CB8AC3E}">
        <p14:creationId xmlns:p14="http://schemas.microsoft.com/office/powerpoint/2010/main" val="1549634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D617F-060E-4AC4-A99A-6DC6A27B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Funcionalidades e 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5ED80-F56E-4BC9-B6CA-895538D9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Perfil e alimentação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61401-1CD7-4B8C-8121-F2E96DD4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RF01–RF08: cadastro, resumo, alimentos, refeições e petiscos.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21E9E-3AA4-4AAD-BC57-E2CD512F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Acompanhamento e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C1080-4671-4C94-909F-45EE57A3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RF09–RF17: peso, atividades, compartilhamento, privacidade e exclusão.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3AEFF-943B-487C-83C8-AAA5AA7B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Continuidade de uso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DE0D0-C626-4309-8406-1988586F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387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RF18–RF20: dicas, retorno acolhedor e consulta por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8A6F1-FB98-4A05-8882-193F0059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RNFs: uso simples, acessibilidade, contraste e arquitetura local. Implementação e testes na Unidade II.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E763A-A203-4623-AA9A-3379B3547F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ab7029e1e4cae"/>
          <a:stretch xmlns:a="http://schemas.openxmlformats.org/drawingml/2006/main"/>
        </p:blipFill>
        <p:spPr>
          <a:xfrm xmlns:a="http://schemas.openxmlformats.org/drawingml/2006/main">
            <a:off x="8915693" y="1400175"/>
            <a:ext cx="1980613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11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22858-AAB3-4837-8DAD-5D621D8C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PetAmigo: ideia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95FAF-1E0A-4F48-8161-0BC9297F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Um diário para acompanhar</a:t>
            </a:r>
          </a:p>
          <a:p xmlns:a="http://schemas.openxmlformats.org/drawingml/2006/main">
            <a:pPr>
              <a:defRPr sz="285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a rotina do pet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D5D41-E300-4C68-B007-C4641603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595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A baixa fidelidade define as telas principais e a posição das informações.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C31AD-4CA2-4888-BD5E-1FFCE649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595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Início, Diário, Atividades e Evolução organizam o acesso às funções.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B40F9-91B7-448C-8836-2587564C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595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O wireframe prioriza estrutura e navegação, com blocos neutros.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EFE6D-539F-4AC2-A3D1-C0D0696108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a177cb4e44826"/>
          <a:stretch xmlns:a="http://schemas.openxmlformats.org/drawingml/2006/main"/>
        </p:blipFill>
        <p:spPr>
          <a:xfrm xmlns:a="http://schemas.openxmlformats.org/drawingml/2006/main">
            <a:off x="7929687" y="1352550"/>
            <a:ext cx="2266702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72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8D542-D0BC-4114-8903-DE1288DF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Evolução da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97874-5626-4B5A-B271-7515483A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24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A lista alimentar ganha seções distintas para refeições e petiscos.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17F56-EE2F-4328-A49E-537A1568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452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O atalho de registro fica próximo do resumo do dia.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125BE-60F8-4EBB-B96D-4AD8BC58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452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Mensagens explicam a ausência de referência alimentar e o resultado das ações.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16546-587F-4CA8-8BBC-A3FC9502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352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Baixa fidelidade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669E9-2ACB-4F94-B09E-B7946D1E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Alta fidelidade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7481A-A632-4336-BD2A-F024F4B72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b9d7c515540e5"/>
          <a:stretch xmlns:a="http://schemas.openxmlformats.org/drawingml/2006/main"/>
        </p:blipFill>
        <p:spPr>
          <a:xfrm xmlns:a="http://schemas.openxmlformats.org/drawingml/2006/main">
            <a:off x="5943137" y="1866900"/>
            <a:ext cx="2020225" cy="437197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B44E6-DB4C-4D4C-B3A9-A34119E6E5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46f32a43f4782"/>
          <a:stretch xmlns:a="http://schemas.openxmlformats.org/drawingml/2006/main"/>
        </p:blipFill>
        <p:spPr>
          <a:xfrm xmlns:a="http://schemas.openxmlformats.org/drawingml/2006/main">
            <a:off x="9042812" y="1866900"/>
            <a:ext cx="1631126" cy="4371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8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6A066-823B-4A59-89A6-E032EB4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Solução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C1CB6-1ED7-435E-81C4-368CBA12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Quatro destinos mantêm a rotina organizada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8BB61-69FA-45F2-BA90-A497B5F7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Início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BDA2A-F986-4187-87C0-EA61AF096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a51d87ebf470e"/>
          <a:stretch xmlns:a="http://schemas.openxmlformats.org/drawingml/2006/main"/>
        </p:blipFill>
        <p:spPr>
          <a:xfrm xmlns:a="http://schemas.openxmlformats.org/drawingml/2006/main">
            <a:off x="1194027" y="2438400"/>
            <a:ext cx="1326696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78109-214D-4208-8EF4-8705F00A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05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Diário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82B90-5E11-4082-86DF-026A1F8109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cbf83b9a14f63"/>
          <a:stretch xmlns:a="http://schemas.openxmlformats.org/drawingml/2006/main"/>
        </p:blipFill>
        <p:spPr>
          <a:xfrm xmlns:a="http://schemas.openxmlformats.org/drawingml/2006/main">
            <a:off x="3810148" y="2438400"/>
            <a:ext cx="1809453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BEE2C-ECD6-4B39-A0C4-E8A12042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Atividades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75B4F-1748-49FC-984D-C681403D4B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3537397414202"/>
          <a:stretch xmlns:a="http://schemas.openxmlformats.org/drawingml/2006/main"/>
        </p:blipFill>
        <p:spPr>
          <a:xfrm xmlns:a="http://schemas.openxmlformats.org/drawingml/2006/main">
            <a:off x="6583160" y="2438400"/>
            <a:ext cx="1978430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EC6F2-9EA7-4DFB-82DA-CD31861B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Evolução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568E2-0A26-4F12-AFCF-2C4B396CA1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dc5bff68445bc"/>
          <a:stretch xmlns:a="http://schemas.openxmlformats.org/drawingml/2006/main"/>
        </p:blipFill>
        <p:spPr>
          <a:xfrm xmlns:a="http://schemas.openxmlformats.org/drawingml/2006/main">
            <a:off x="9806767" y="2438400"/>
            <a:ext cx="1246217" cy="3476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CE823-88C7-4A9D-9C02-C7D0270D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O Diário concentra o histórico alimentar apresentado no slide anterior.</a:t>
            </a:r>
          </a:p>
        </p:txBody>
      </p:sp>
    </p:spTree>
    <p:extLst>
      <p:ext uri="{BB962C8B-B14F-4D97-AF65-F5344CB8AC3E}">
        <p14:creationId xmlns:p14="http://schemas.microsoft.com/office/powerpoint/2010/main" val="94958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FEAD8-9379-49C5-AFEB-DC9C1D49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Fluxo principal: registrar uma refeição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A8DEE-48D6-4607-BD52-114F3A4E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1. Abrir “Registrar refeição”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0FFE1-2464-4FB3-8011-92FE20B6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2. Conferir alimento e porção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0BDB8-3D4A-49F4-A8B2-34EADFB7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3. Confirmar e receber o retorno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AF686-6390-484E-B002-3A0F0184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4953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Dois toques quando alimento e porção já estão configurados.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9FA15-DE49-4BE2-B2C6-CDF9D69E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525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Conferência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B5548-BAFF-4A3D-8D16-7B7C127B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352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Registro salvo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7939B-C1C0-45BE-A530-5140AE920D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521ed42f84752"/>
          <a:stretch xmlns:a="http://schemas.openxmlformats.org/drawingml/2006/main"/>
        </p:blipFill>
        <p:spPr>
          <a:xfrm xmlns:a="http://schemas.openxmlformats.org/drawingml/2006/main">
            <a:off x="6294118" y="1905000"/>
            <a:ext cx="1985015" cy="429577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7C189-7B67-4D8E-A991-356DD80452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f4ac227b24a0b"/>
          <a:stretch xmlns:a="http://schemas.openxmlformats.org/drawingml/2006/main"/>
        </p:blipFill>
        <p:spPr>
          <a:xfrm xmlns:a="http://schemas.openxmlformats.org/drawingml/2006/main">
            <a:off x="9199243" y="1905000"/>
            <a:ext cx="1985015" cy="4295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77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00F5E-9E17-4098-A5DC-1B14CAE7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Principais decisões de UI/UX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3877B-72CF-4A30-9434-A6A4C5B8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Verde destaca as ações principais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EFDA4-F3B6-409E-9393-8A8A8A93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700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Fundo claro e tipografia Inter organizam a leitura dos registros.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8310B-7E9C-4D33-845F-FAC53FF3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700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Rótulos e mensagens explicam os estados sem depender apenas de cor.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5A6CF-20F0-4568-AFF1-E54D37A3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700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Alvos de toque de pelo menos 48 dp e dados do gráfico também em texto.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8D64B-5336-420B-848E-F9B12755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Fonte ampliada e TalkBack precisam de validação no Android.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06FE4-3A67-44C8-9F8D-BB9085310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18f43f9e74ab7"/>
          <a:stretch xmlns:a="http://schemas.openxmlformats.org/drawingml/2006/main"/>
        </p:blipFill>
        <p:spPr>
          <a:xfrm xmlns:a="http://schemas.openxmlformats.org/drawingml/2006/main">
            <a:off x="8723580" y="1428750"/>
            <a:ext cx="2231491" cy="4829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715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0CDA0-ADCD-4127-8A96-A040F990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Arquitetura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1EDE9-D043-4E2E-A2AF-F17CB437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304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00F48-5732-4B3A-AEDA-567FECFD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859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Quatro destinos e formulários reutilizados recebem e exibem os registros.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87D5D-927D-474A-A035-D1681E29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304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Regras de domínio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AF9A9-3805-462D-90DF-2AFE12C8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051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Validam entradas e totais. O módulo NRC exige método validado antes de calcular.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D288D-4E4E-4651-B4D2-E769ADEB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304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Repositório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2F67C-8E63-46B9-8346-B661F25E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24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Banco privado como fonte de verdade. A confirmação depende de salvar os dados.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BF656-5DBA-4E0F-969C-AC5B07CC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304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Serviços opcionais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890C2-37AE-469A-8031-99432F9B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435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Compartilhamento solicitado pelo tutor e cópia remota por Wi-Fi, com fila e conflitos.</a:t>
            </a:r>
          </a:p>
        </p:txBody>
      </p:sp>
    </p:spTree>
    <p:extLst>
      <p:ext uri="{BB962C8B-B14F-4D97-AF65-F5344CB8AC3E}">
        <p14:creationId xmlns:p14="http://schemas.microsoft.com/office/powerpoint/2010/main" val="412157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40D78-5ED3-4CCE-A66C-299E9D0F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Entrega da Unidade I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D9662-D2D5-43D5-9967-6AE3011E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O que desenvolvemos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03853-AB57-481E-8292-C3A185FD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Uma proposta de aplicativo para tutores de cães e gatos, com Marina como prioridade e diário como base do cuidado.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ADF56-9BFA-49AC-8605-FE8E2552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Entrega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77892-7E54-487B-AC9E-ADFAE979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Documentação, requisitos, protótipos e apresentação no GitHub. Conferir os arquivos e enviar o link no Teams.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4A91D-8E5E-4FF4-9079-D64FACC4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Unidade II: implementar o aplicativo, validar cálculos e testar persistência, acessibilidade e desempenho.</a:t>
            </a:r>
          </a:p>
        </p:txBody>
      </p:sp>
    </p:spTree>
    <p:extLst>
      <p:ext uri="{BB962C8B-B14F-4D97-AF65-F5344CB8AC3E}">
        <p14:creationId xmlns:p14="http://schemas.microsoft.com/office/powerpoint/2010/main" val="1746819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2026-10-01T16:47:33.2090000Z</dcterms:created>
  <dcterms:modified xsi:type="dcterms:W3CDTF">2026-10-01T16:47:33.2090000Z</dcterms:modified>
</coreProperties>
</file>