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e87b9dfb1e4508" /><Relationship Type="http://schemas.openxmlformats.org/officeDocument/2006/relationships/extended-properties" Target="/docProps/app.xml" Id="R48908eef3cbc44c0" /><Relationship Type="http://schemas.openxmlformats.org/officeDocument/2006/relationships/officeDocument" Target="/ppt/presentation.xml" Id="R170b96994d2148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9e090cd65845e5"/>
  </p:sldMasterIdLst>
  <p:notesMasterIdLst>
    <p:notesMasterId xmlns:r="http://schemas.openxmlformats.org/officeDocument/2006/relationships" r:id="R13d3e36af4474d57"/>
  </p:notesMasterIdLst>
  <p:sldIdLst>
    <p:sldId xmlns:r="http://schemas.openxmlformats.org/officeDocument/2006/relationships" id="256" r:id="Rf1b279d1384d40bf"/>
    <p:sldId xmlns:r="http://schemas.openxmlformats.org/officeDocument/2006/relationships" id="257" r:id="R4e84265815af418c"/>
    <p:sldId xmlns:r="http://schemas.openxmlformats.org/officeDocument/2006/relationships" id="258" r:id="Re20b7383c2c44f8a"/>
    <p:sldId xmlns:r="http://schemas.openxmlformats.org/officeDocument/2006/relationships" id="259" r:id="Rfb958370340f44f9"/>
    <p:sldId xmlns:r="http://schemas.openxmlformats.org/officeDocument/2006/relationships" id="260" r:id="R27b0b44f13dc48d3"/>
    <p:sldId xmlns:r="http://schemas.openxmlformats.org/officeDocument/2006/relationships" id="261" r:id="Rad24e4ad3ef34d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2b55f320b54289" /><Relationship Type="http://schemas.openxmlformats.org/officeDocument/2006/relationships/slideMaster" Target="/ppt/slideMasters/slideMaster1.xml" Id="R4c9e090cd65845e5" /><Relationship Type="http://schemas.openxmlformats.org/officeDocument/2006/relationships/notesMaster" Target="/ppt/notesMasters/notesMaster1.xml" Id="R13d3e36af4474d57" /><Relationship Type="http://schemas.openxmlformats.org/officeDocument/2006/relationships/presProps" Target="/ppt/presProps.xml" Id="Rac95523c70e2469e" /><Relationship Type="http://schemas.openxmlformats.org/officeDocument/2006/relationships/tableStyles" Target="/ppt/tableStyles.xml" Id="R8987476b7e774c8d" /><Relationship Type="http://schemas.openxmlformats.org/officeDocument/2006/relationships/slide" Target="/ppt/slides/slide1.xml" Id="Rf1b279d1384d40bf" /><Relationship Type="http://schemas.openxmlformats.org/officeDocument/2006/relationships/slide" Target="/ppt/slides/slide2.xml" Id="R4e84265815af418c" /><Relationship Type="http://schemas.openxmlformats.org/officeDocument/2006/relationships/slide" Target="/ppt/slides/slide3.xml" Id="Re20b7383c2c44f8a" /><Relationship Type="http://schemas.openxmlformats.org/officeDocument/2006/relationships/slide" Target="/ppt/slides/slide4.xml" Id="Rfb958370340f44f9" /><Relationship Type="http://schemas.openxmlformats.org/officeDocument/2006/relationships/slide" Target="/ppt/slides/slide5.xml" Id="R27b0b44f13dc48d3" /><Relationship Type="http://schemas.openxmlformats.org/officeDocument/2006/relationships/slide" Target="/ppt/slides/slide6.xml" Id="Rad24e4ad3ef3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f6ecb1bfe343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61c3d5b21841fb" /><Relationship Type="http://schemas.openxmlformats.org/officeDocument/2006/relationships/notesMaster" Target="/ppt/notesMasters/notesMaster1.xml" Id="Rdf4b8946c621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10ab3341204804" /><Relationship Type="http://schemas.openxmlformats.org/officeDocument/2006/relationships/notesMaster" Target="/ppt/notesMasters/notesMaster1.xml" Id="R715a28a5b8c344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2ddbe8c78442d2" /><Relationship Type="http://schemas.openxmlformats.org/officeDocument/2006/relationships/notesMaster" Target="/ppt/notesMasters/notesMaster1.xml" Id="R4d5283c1eace49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e71d151afa45ca" /><Relationship Type="http://schemas.openxmlformats.org/officeDocument/2006/relationships/notesMaster" Target="/ppt/notesMasters/notesMaster1.xml" Id="R5cffb0c8d09941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676b60b64542ac" /><Relationship Type="http://schemas.openxmlformats.org/officeDocument/2006/relationships/notesMaster" Target="/ppt/notesMasters/notesMaster1.xml" Id="Rb1b2c39c29de44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ec05d76afe4b56" /><Relationship Type="http://schemas.openxmlformats.org/officeDocument/2006/relationships/notesMaster" Target="/ppt/notesMasters/notesMaster1.xml" Id="Rc6d99ee02bb942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problema: organizar alimentação, atividades e acompanhamento do peso do pet. Relacionar a rotina de Marina e Bruno às decisões do projeto. A baixa fidelidade explora a estrutura sem definir a identidade final.</a:t>
            </a:r>
          </a:p>
          <a:p xmlns:a="http://schemas.openxmlformats.org/drawingml/2006/main">
            <a:r>
              <a:t>Fontes: enunciado da Atividade 04, seção 5. docs/justificativas.md e docs/requisitos.md do PetAmigo.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os diários. A lista conjunta ganhou seções de refeições e petiscos. No Início, o atalho habitual se aproxima do resumo. A referência indisponível ganha uma explicação. São decisões de design, sem atribuição a teste com usuários.</a:t>
            </a:r>
          </a:p>
          <a:p xmlns:a="http://schemas.openxmlformats.org/drawingml/2006/main">
            <a:r>
              <a:t>Fontes: enunciado da Atividade 04, seção 5. docs/justificativas.md e docs/requisitos.md do PetAmigo.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Percorrer os quatro destinos. Início reúne perfil e resumo. Diário organiza refeições e petiscos. Atividades registra movimento. Evolução reúne pesagens e referências. A interface é uma proposta para implementação na Unidade II.</a:t>
            </a:r>
          </a:p>
          <a:p xmlns:a="http://schemas.openxmlformats.org/drawingml/2006/main">
            <a:r>
              <a:t>Fontes: enunciado da Atividade 04, seção 5. docs/justificativas.md e docs/requisitos.md do PetAmigo.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Demonstrar no Figma: Início, abrir Registrar refeição, Confirmar refeição e retorno salvo. Com alimento e porção previamente configurados, são dois toques. Cadastro e ajustes são fluxos separados. Totais ilustrativos mudam de 120 para 228 kcal. O protótipo simula a persistência, sem banco de dados funcional.</a:t>
            </a:r>
          </a:p>
          <a:p xmlns:a="http://schemas.openxmlformats.org/drawingml/2006/main">
            <a:r>
              <a:t>Fontes: enunciado da Atividade 04, seção 5. docs/justificativas.md e docs/requisitos.md do PetAmigo.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verde #236447, fundo #F6F8F4 e Inter. Os alvos de toque propostos atendem ao mínimo de 48 dp. Gráficos também apresentam dados textuais. TalkBack e fonte a 200% precisam de teste no Android. A referência alimentar permanece indisponível até validar o método. Porções demonstrativas não são prescrições.</a:t>
            </a:r>
          </a:p>
          <a:p xmlns:a="http://schemas.openxmlformats.org/drawingml/2006/main">
            <a:r>
              <a:t>Fontes: enunciado da Atividade 04, seção 5. docs/justificativas.md e docs/requisitos.md do PetAmigo.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os grupos de requisitos às telas. RF01/RF02: perfil e resumo. RF04–RF08: alimentos, refeições, petiscos e totais. RF09–RF12: peso, ECC, gráfico e atividades. RF13–RF17: resumo compartilhável, dados locais, cópia remota e exclusão. RF18–RF20: dicas, retorno acolhedor e consulta por data. A matriz completa está no Figma e nas justificativas. Não afirmar implementação concluída: NRC, persistência, sincronização, desempenho e acessibilidade dependem de desenvolvimento e validação.</a:t>
            </a:r>
          </a:p>
          <a:p xmlns:a="http://schemas.openxmlformats.org/drawingml/2006/main">
            <a:r>
              <a:t>Fontes: enunciado da Atividade 04, seção 5. docs/justificativas.md e docs/requisitos.md do PetAmigo. Telas do protótipo: https://www.figma.com/design/KMFuEzPGv0SJTS7L8c3DMV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b9cc55f4647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543ee37c047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495ba0fe747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6d5b561314c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f0d344fdf46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57909284e4e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2A46A7-50C9-4DB3-AA2D-7CAF648EF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0EEF89-317D-4829-B7F7-54E6103C4E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0FDADC-1D77-4D29-B178-8ED663029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CEA0EE-7EAB-4258-89FA-58D9427E8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C38B3B-9AF6-462C-BF0D-A354C55097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A7686F-8DF2-47AF-A753-41A72E17C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4B169E-DC0D-48DC-971C-706CB0C32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DA3543-82E8-44FD-82B2-BB696AB65C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BF0F36-509A-458C-8994-77562C1420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8E98A3-BF0A-47D7-AC16-A94B559B87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a8f5dacdd94b2b" /><Relationship Type="http://schemas.openxmlformats.org/officeDocument/2006/relationships/slideLayout" Target="/ppt/slideLayouts/slideLayout1.xml" Id="Rced8920db1624c32" /><Relationship Type="http://schemas.openxmlformats.org/officeDocument/2006/relationships/slideLayout" Target="/ppt/slideLayouts/slideLayout2.xml" Id="Re52160b2037e4c11" /><Relationship Type="http://schemas.openxmlformats.org/officeDocument/2006/relationships/slideLayout" Target="/ppt/slideLayouts/slideLayout3.xml" Id="R95d6aabf45f64ef8" /><Relationship Type="http://schemas.openxmlformats.org/officeDocument/2006/relationships/slideLayout" Target="/ppt/slideLayouts/slideLayout4.xml" Id="R8f0ec880f5e34035" /><Relationship Type="http://schemas.openxmlformats.org/officeDocument/2006/relationships/slideLayout" Target="/ppt/slideLayouts/slideLayout5.xml" Id="R1d39214e26a349f8" /><Relationship Type="http://schemas.openxmlformats.org/officeDocument/2006/relationships/slideLayout" Target="/ppt/slideLayouts/slideLayout6.xml" Id="R7c6d1f127c804b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d8920db1624c32"/>
    <p:sldLayoutId xmlns:r="http://schemas.openxmlformats.org/officeDocument/2006/relationships" id="2147483650" r:id="Re52160b2037e4c11"/>
    <p:sldLayoutId xmlns:r="http://schemas.openxmlformats.org/officeDocument/2006/relationships" id="2147483651" r:id="R95d6aabf45f64ef8"/>
    <p:sldLayoutId xmlns:r="http://schemas.openxmlformats.org/officeDocument/2006/relationships" id="2147483652" r:id="R8f0ec880f5e34035"/>
    <p:sldLayoutId xmlns:r="http://schemas.openxmlformats.org/officeDocument/2006/relationships" id="2147483653" r:id="R1d39214e26a349f8"/>
    <p:sldLayoutId xmlns:r="http://schemas.openxmlformats.org/officeDocument/2006/relationships" id="2147483654" r:id="R7c6d1f127c804b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0299f6b964315" /><Relationship Type="http://schemas.openxmlformats.org/officeDocument/2006/relationships/image" Target="/ppt/media/image.png" Id="R9ccb56f1fd5f43da" /><Relationship Type="http://schemas.openxmlformats.org/officeDocument/2006/relationships/notesSlide" Target="/ppt/notesSlides/notesSlide1.xml" Id="Re101c26b55d546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100551a45420d" /><Relationship Type="http://schemas.openxmlformats.org/officeDocument/2006/relationships/image" Target="/ppt/media/image2.png" Id="Rbc570dde73274346" /><Relationship Type="http://schemas.openxmlformats.org/officeDocument/2006/relationships/image" Target="/ppt/media/image3.png" Id="Ra99fa99e801f498d" /><Relationship Type="http://schemas.openxmlformats.org/officeDocument/2006/relationships/notesSlide" Target="/ppt/notesSlides/notesSlide2.xml" Id="R0d3d94d86c8945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ac2692c5c4cd7" /><Relationship Type="http://schemas.openxmlformats.org/officeDocument/2006/relationships/image" Target="/ppt/media/image4.png" Id="R8bea6d3570e24a99" /><Relationship Type="http://schemas.openxmlformats.org/officeDocument/2006/relationships/image" Target="/ppt/media/image5.png" Id="R18e7a35e1c634092" /><Relationship Type="http://schemas.openxmlformats.org/officeDocument/2006/relationships/image" Target="/ppt/media/image6.png" Id="R006f473ee29b41fc" /><Relationship Type="http://schemas.openxmlformats.org/officeDocument/2006/relationships/image" Target="/ppt/media/image7.png" Id="Rc7db58fdb6134a4a" /><Relationship Type="http://schemas.openxmlformats.org/officeDocument/2006/relationships/notesSlide" Target="/ppt/notesSlides/notesSlide3.xml" Id="Rbb3a60ad59ac4a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9b493069b4859" /><Relationship Type="http://schemas.openxmlformats.org/officeDocument/2006/relationships/image" Target="/ppt/media/image8.png" Id="R5808cd6d118144b2" /><Relationship Type="http://schemas.openxmlformats.org/officeDocument/2006/relationships/image" Target="/ppt/media/image9.png" Id="R4c70811af9034d9a" /><Relationship Type="http://schemas.openxmlformats.org/officeDocument/2006/relationships/notesSlide" Target="/ppt/notesSlides/notesSlide4.xml" Id="R3fc32616ef0047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0399106b24879" /><Relationship Type="http://schemas.openxmlformats.org/officeDocument/2006/relationships/image" Target="/ppt/media/image10.png" Id="R05b6c5363d074ce4" /><Relationship Type="http://schemas.openxmlformats.org/officeDocument/2006/relationships/notesSlide" Target="/ppt/notesSlides/notesSlide5.xml" Id="R3ae2e296b0a842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266dfb34f4abf" /><Relationship Type="http://schemas.openxmlformats.org/officeDocument/2006/relationships/image" Target="/ppt/media/image11.png" Id="R933479d70bb94bf2" /><Relationship Type="http://schemas.openxmlformats.org/officeDocument/2006/relationships/notesSlide" Target="/ppt/notesSlides/notesSlide6.xml" Id="R60b68603359042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C629F-65B8-4C6F-A6A0-FDEB267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PetAmigo: ideia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95C21-04D0-4A4C-A631-3424DF93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Um diário para acompanhar</a:t>
            </a:r>
          </a:p>
          <a:p xmlns:a="http://schemas.openxmlformats.org/drawingml/2006/main">
            <a:pPr>
              <a:defRPr sz="285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 rotina do pet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BAD7E-84AD-40B2-B309-9B2E96EF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A baixa fidelidade define as telas principais e a posição das informações.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1033A-FD1C-4BB7-B376-3C748CE8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595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Início, Diário, Atividades e Evolução organizam o acesso às funções.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F1FC2-9DED-456B-A097-9D77EC00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953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O wireframe prioriza estrutura e navegação, com blocos neutros.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5351E-7BAC-42C3-93D7-E6FCD16E0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b56f1fd5f43da"/>
          <a:stretch xmlns:a="http://schemas.openxmlformats.org/drawingml/2006/main"/>
        </p:blipFill>
        <p:spPr>
          <a:xfrm xmlns:a="http://schemas.openxmlformats.org/drawingml/2006/main">
            <a:off x="7929687" y="1352550"/>
            <a:ext cx="2266702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29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58C9B-5B03-49CD-B594-58B2FD2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Evolução da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29EF6-03D1-46B6-84E6-7795C84F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24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 lista alimentar ganha seções distintas para refeições e petiscos.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7A637-F057-45D2-A786-1A58619A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O atalho de registro fica próximo do resumo do dia.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D9030-4A31-44B9-BE4A-1808C446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4524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Mensagens explicam a ausência de referência alimentar e o resultado das 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247D9-C9E9-4E48-B2C0-D92B04FC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52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Baixa fidelidade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748E8-483E-405A-9685-D3AC9316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Alta fidelidade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BC407-7BE9-48D9-ACC0-74AA32AEA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70dde73274346"/>
          <a:stretch xmlns:a="http://schemas.openxmlformats.org/drawingml/2006/main"/>
        </p:blipFill>
        <p:spPr>
          <a:xfrm xmlns:a="http://schemas.openxmlformats.org/drawingml/2006/main">
            <a:off x="5943137" y="1866900"/>
            <a:ext cx="2020225" cy="43719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7003B-97B3-4265-B55C-9D86471154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fa99e801f498d"/>
          <a:stretch xmlns:a="http://schemas.openxmlformats.org/drawingml/2006/main"/>
        </p:blipFill>
        <p:spPr>
          <a:xfrm xmlns:a="http://schemas.openxmlformats.org/drawingml/2006/main">
            <a:off x="9042812" y="1866900"/>
            <a:ext cx="1631126" cy="4371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27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66C1A-9BC5-4A97-BB8C-7C1E0C56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Solução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B5C21-B8C8-41BF-A5F5-F4EA425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Quatro destinos mantêm a rotina organizada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76F70-D3BB-4E9A-B5E7-4FDAD35B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Início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5BCEA-2DB4-4241-9BF5-7DFDCDC4D0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a6d3570e24a99"/>
          <a:stretch xmlns:a="http://schemas.openxmlformats.org/drawingml/2006/main"/>
        </p:blipFill>
        <p:spPr>
          <a:xfrm xmlns:a="http://schemas.openxmlformats.org/drawingml/2006/main">
            <a:off x="1194027" y="2438400"/>
            <a:ext cx="1326696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0A1F1-A607-41A8-96DD-19CA830C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Diário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29DE-0166-4FFE-AC1D-FA4AED1BE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7a35e1c634092"/>
          <a:stretch xmlns:a="http://schemas.openxmlformats.org/drawingml/2006/main"/>
        </p:blipFill>
        <p:spPr>
          <a:xfrm xmlns:a="http://schemas.openxmlformats.org/drawingml/2006/main">
            <a:off x="3810148" y="2438400"/>
            <a:ext cx="1809453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448D2-7D6C-4856-A45F-652B743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Atividades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E54A5-EBF2-44CE-AAF0-0263191F69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f473ee29b41fc"/>
          <a:stretch xmlns:a="http://schemas.openxmlformats.org/drawingml/2006/main"/>
        </p:blipFill>
        <p:spPr>
          <a:xfrm xmlns:a="http://schemas.openxmlformats.org/drawingml/2006/main">
            <a:off x="6583160" y="2438400"/>
            <a:ext cx="1978430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6BFFF-BA7E-4393-B88D-F50761B9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Evolução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1CEDA-2F61-43EC-BC64-3C7C1C109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b58fdb6134a4a"/>
          <a:stretch xmlns:a="http://schemas.openxmlformats.org/drawingml/2006/main"/>
        </p:blipFill>
        <p:spPr>
          <a:xfrm xmlns:a="http://schemas.openxmlformats.org/drawingml/2006/main">
            <a:off x="9806767" y="2438400"/>
            <a:ext cx="1246217" cy="3476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FD45E-8500-4B37-B706-4E1D272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O Diário concentra o histórico alimentar apresentado no slide anterior.</a:t>
            </a:r>
          </a:p>
        </p:txBody>
      </p:sp>
    </p:spTree>
    <p:extLst>
      <p:ext uri="{BB962C8B-B14F-4D97-AF65-F5344CB8AC3E}">
        <p14:creationId xmlns:p14="http://schemas.microsoft.com/office/powerpoint/2010/main" val="1681256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44F63-30AE-484B-96AF-A72A214D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Fluxo principal: registrar uma refeição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599F4-356A-4101-BBB1-998EF489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1. Abrir “Registrar refeição”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F6DA1-F5B0-48C1-93B8-A328793C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2. Conferir alimento e porção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127DB-91FA-467D-90CB-938CD95F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3. Confirmar e receber o retorno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A8D3A-ADA6-4662-BCD2-5258CA85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4953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Dois toques quando alimento e porção já estão configurados.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8CD3C-EA4D-473E-9B41-4361513E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52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Conferência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89F99-07D3-4D00-936D-37AD2205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352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Registro salvo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F8960-312F-42DE-8D4A-E3D81266C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8cd6d118144b2"/>
          <a:stretch xmlns:a="http://schemas.openxmlformats.org/drawingml/2006/main"/>
        </p:blipFill>
        <p:spPr>
          <a:xfrm xmlns:a="http://schemas.openxmlformats.org/drawingml/2006/main">
            <a:off x="6294118" y="1905000"/>
            <a:ext cx="1985015" cy="429577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669ED-665D-4D15-951A-15C6F4EB5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0811af9034d9a"/>
          <a:stretch xmlns:a="http://schemas.openxmlformats.org/drawingml/2006/main"/>
        </p:blipFill>
        <p:spPr>
          <a:xfrm xmlns:a="http://schemas.openxmlformats.org/drawingml/2006/main">
            <a:off x="9199243" y="1905000"/>
            <a:ext cx="1985015" cy="4295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4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DDB9E-5C9A-4A09-8A06-8993FC8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Principais decisões de UI/UX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EB934-E744-4CE4-9197-21A81A3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Verde destaca as ações principais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67668-933F-4B39-8395-E00E19F7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700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Fundo claro e tipografia Inter organizam a leitura dos registros.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10797-C1EA-43F1-9037-2AF263DE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700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Rótulos e mensagens explicam os estados sem depender apenas de cor.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6BC7F-AECC-4845-924C-1A39DA4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700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Alvos de toque de pelo menos 48 dp e dados do gráfico também em texto.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8858-CF55-4498-94B5-81BF22FD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Fonte ampliada e TalkBack precisam de validação no Android.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E6353-B6CF-4D11-BF16-68AD01EB7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6c5363d074ce4"/>
          <a:stretch xmlns:a="http://schemas.openxmlformats.org/drawingml/2006/main"/>
        </p:blipFill>
        <p:spPr>
          <a:xfrm xmlns:a="http://schemas.openxmlformats.org/drawingml/2006/main">
            <a:off x="8723580" y="1428750"/>
            <a:ext cx="2231491" cy="4829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89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53C3B-6E12-4D72-9380-369915A2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644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36447"/>
                </a:solidFill>
                <a:latin typeface="Arial"/>
                <a:ea typeface="Arial"/>
                <a:cs typeface="Arial"/>
              </a:rPr>
              <a:t>Funcionalidades e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3C95F-5321-4B49-8E87-4953E97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Perfil e alimentação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4841F-65FA-4CC5-A3D7-18976DC1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RF01–RF08: cadastro, resumo, alimentos, refeições e petiscos.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36F32-18F1-4760-8ECF-C37FE17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Acompanhamento 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A7825-FE01-4710-8443-7A5B044D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723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RF09–RF17: peso, atividades, compartilhamento, privacidade e exclusão.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9B39B-F71F-4417-A166-DA4F06F4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3029"/>
                </a:solidFill>
                <a:latin typeface="Arial"/>
                <a:ea typeface="Arial"/>
                <a:cs typeface="Arial"/>
              </a:rPr>
              <a:t>Continuidade de 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4B190-7B86-42A2-AC73-A6B92638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387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RF18–RF20: dicas, retorno acolhedor e consulta por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6D73F-3CA7-490A-89C1-5E4514F9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F302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F3029"/>
                </a:solidFill>
                <a:latin typeface="Arial"/>
                <a:ea typeface="Arial"/>
                <a:cs typeface="Arial"/>
              </a:rPr>
              <a:t>RNFs: uso simples, acessibilidade, contraste e arquitetura local. Implementação e testes na Unidade II.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172A8-2220-4BD7-A9D4-966200154B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479d70bb94bf2"/>
          <a:stretch xmlns:a="http://schemas.openxmlformats.org/drawingml/2006/main"/>
        </p:blipFill>
        <p:spPr>
          <a:xfrm xmlns:a="http://schemas.openxmlformats.org/drawingml/2006/main">
            <a:off x="8915693" y="1400175"/>
            <a:ext cx="1980613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70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2026-09-30T21:37:20.0900000Z</dcterms:created>
  <dcterms:modified xsi:type="dcterms:W3CDTF">2026-09-30T21:37:20.0900000Z</dcterms:modified>
</coreProperties>
</file>